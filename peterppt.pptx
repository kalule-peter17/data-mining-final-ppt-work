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337F-4A41-95E0-0325-2A290E5D8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C3394-C0F7-A8F5-AAA2-868A94151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D1890-404A-A331-4740-2DCEB007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94FAC-0235-16C1-C321-A98CEEB01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883A9-EF05-99E2-295C-750BFCCB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638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C928-87A3-85C6-57A0-F0DCE5990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56AF-BC48-04CD-E771-F5C5EDF13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40A42-02DC-2E78-47DB-D4442455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FECDC-569A-5D72-130D-793A5F1E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F82DB-0696-D15C-3F44-4C397D6E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1296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AF10-3CF3-7253-B587-DA48906A7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2B9AF-CC32-8D34-F785-2327A71AC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77DDA-587F-EE7A-E726-38C2CE38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08BE-FCB3-827A-B55E-3D4B382B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EDCD7-BF95-A5C9-0DCD-12A53B1A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0557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FB1B-2B16-AF84-C5DE-35F4BEBA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B7CA9-18AB-A9FF-84BA-187B5E593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A34AF-6945-681D-959E-F9D106DAC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85A9C-4CFC-30C3-9ACA-81DAF21F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ED94D-5F7F-EF00-1474-4DAE70A6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46341-B864-B54B-7BA6-BCCAC7DE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2299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C02B-C130-28D9-A639-D7E376E5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6C412-EF20-2323-335D-A8C1DCE6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44986-7A87-E0A8-6351-2C5B42BF0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FB7FD-D858-7C32-50A4-0DF652D0F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2EAD8-31C1-9BAC-E587-AA9645AE2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0AB6E-2A74-EA2C-4C4C-87B2EF55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AD670-E296-C2FF-2252-2D8D67BB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AB63F-67A0-0936-A8E1-026E13F6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9721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AEC3-2031-AEDA-5CC8-34F2265C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0E503-D78D-EB3F-068E-84B38881F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A89FF-42DE-8131-E9C9-DC57EE9EB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1181-5404-013D-0A9B-290A2D87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6445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1FED44-FF81-AE93-7AF0-21DCFF4D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A0A64-7800-DC4F-D97C-08F7CFA3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9ACA7-DF1A-6D28-7336-E1273A7D0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5535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A930-1608-63D9-DEF1-CF24CE1F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CC0-533B-4B1E-1662-14366357F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3F8D8-CCB1-3507-A6D4-55ACFE16E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2A728-7C85-2514-E191-575130D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BCA54-16D2-C57B-5337-246DB272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10DD3-5811-6574-B2A2-2E6654AB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9334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348C-8092-5B59-0B5B-273B77737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E09E0-4BFA-C24D-81CC-A83E9F638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2B302-335F-0629-3472-F0C06DAE3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28ABB-6E15-8CE2-79F3-B4736BDC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29C8B-2675-D559-C2BC-65A7F7E4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C723F-CD56-8627-C863-52E14EB9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79930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AC52-4ACA-037E-B9EF-ECE406743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82E5D-44FC-5CD8-C2B5-DB3A68B87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4E71D-E437-9712-0F16-BFD05D33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989EE-B0CC-2807-FA8D-4FCF2973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EFAFF-A68F-B25E-DE11-DA203C436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1472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C718D0-1BC1-D321-E681-D404EF188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86DA9-3C54-D625-1C26-C5EA08EBE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F237C-2B96-494F-9E3D-FC1E0E67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94E4-741C-5E6A-42C8-EE7CB0B1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CAC9-8EB0-B816-1EBD-4D5DB262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6342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ACCA8-3E58-8C9F-7651-148266D4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8C003-B4DE-DE02-5F09-1AA76DFD9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088DB-71F4-FF0A-CFCB-FB81A3ACF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EA44F-4336-45E3-AE84-EB92F29945E3}" type="datetimeFigureOut">
              <a:rPr lang="en-UG" smtClean="0"/>
              <a:t>11/12/2025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1B89B-2348-FDD3-4091-E7FCB48A9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C66F6-5F76-83B8-336D-4B8C625C7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D43BC-416E-438F-977F-E87AA7A540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1953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09B1-220A-98B8-AE9C-997B607EF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KALULE PETER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E620F-2EE7-EE3F-2552-0E0B93746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2023-BO0071-20963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284445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9A90-12BC-A376-E74C-C79ABABC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DATAPREPARATION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C632-9D61-0FA7-A905-004B91A41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 loaded 10 shopping transactions from the given table.</a:t>
            </a:r>
            <a:br>
              <a:rPr lang="en-US" dirty="0"/>
            </a:br>
            <a:r>
              <a:rPr lang="en-US" dirty="0"/>
              <a:t>Each transaction shows items bought together.</a:t>
            </a:r>
            <a:br>
              <a:rPr lang="en-US" dirty="0"/>
            </a:br>
            <a:r>
              <a:rPr lang="en-US" dirty="0"/>
              <a:t>I converted the lists into a binary table format.</a:t>
            </a:r>
            <a:br>
              <a:rPr lang="en-US" dirty="0"/>
            </a:br>
            <a:r>
              <a:rPr lang="en-US" dirty="0"/>
              <a:t>This table has rows for transactions and columns for items.</a:t>
            </a:r>
            <a:br>
              <a:rPr lang="en-US" dirty="0"/>
            </a:br>
            <a:r>
              <a:rPr lang="en-US" dirty="0"/>
              <a:t>A 1 means the item was bought; 0 means it was not.</a:t>
            </a:r>
            <a:br>
              <a:rPr lang="en-US" dirty="0"/>
            </a:br>
            <a:r>
              <a:rPr lang="en-US" dirty="0"/>
              <a:t>Data is now ready for the </a:t>
            </a:r>
            <a:r>
              <a:rPr lang="en-US" dirty="0" err="1"/>
              <a:t>Apriori</a:t>
            </a:r>
            <a:r>
              <a:rPr lang="en-US" dirty="0"/>
              <a:t> algorithm.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5008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0EFB-A3F9-3B4E-D237-9B2AC078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ITEMS FOUND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61619-4983-CDCC-D224-43874B7B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set minimum support at 0.2, meaning an item must appear in at least 20% of transactions.</a:t>
            </a:r>
            <a:br>
              <a:rPr lang="en-US" dirty="0"/>
            </a:br>
            <a:r>
              <a:rPr lang="en-US" dirty="0"/>
              <a:t>The most frequent single item is Milk, appearing 7 times.</a:t>
            </a:r>
            <a:br>
              <a:rPr lang="en-US" dirty="0"/>
            </a:br>
            <a:r>
              <a:rPr lang="en-US" dirty="0"/>
              <a:t>Bread appears 6 times.</a:t>
            </a:r>
            <a:br>
              <a:rPr lang="en-US" dirty="0"/>
            </a:br>
            <a:r>
              <a:rPr lang="en-US" dirty="0"/>
              <a:t>Butter appears 4 times.</a:t>
            </a:r>
            <a:br>
              <a:rPr lang="en-US" dirty="0"/>
            </a:br>
            <a:r>
              <a:rPr lang="en-US" dirty="0"/>
              <a:t>I also found frequent item pairs, like Milk and Bread appear together 4 times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5258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278E-222C-65D2-6C3D-F582F7FE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SHOPPING RULES GENERATED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17529-5DF2-038C-BD1C-F1DDF08F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generated association rules with at least 50% confidence.</a:t>
            </a:r>
            <a:br>
              <a:rPr lang="en-US" dirty="0"/>
            </a:br>
            <a:r>
              <a:rPr lang="en-US" dirty="0"/>
              <a:t>Thirteen rules were created in total.</a:t>
            </a:r>
            <a:br>
              <a:rPr lang="en-US" dirty="0"/>
            </a:br>
            <a:r>
              <a:rPr lang="en-US" dirty="0"/>
              <a:t>Each rule is an if-then statement about purchase behavior.</a:t>
            </a:r>
            <a:br>
              <a:rPr lang="en-US" dirty="0"/>
            </a:br>
            <a:r>
              <a:rPr lang="en-US" dirty="0"/>
              <a:t>For each rule, we calculated three important measures: support, confidence, and lift.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22346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41CA-DFEE-5121-1514-214C3C33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3 STRONGEST RULES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9FE8C-F114-4629-AC2A-0743491E5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 1: Butter → Bread. This has 100% confidence – everyone who buys Butter also buys Bread. Lift is 1.67.</a:t>
            </a:r>
            <a:br>
              <a:rPr lang="en-US" dirty="0"/>
            </a:br>
            <a:r>
              <a:rPr lang="en-US" dirty="0"/>
              <a:t>Rule 2: Bread → Milk. This has 67% confidence – two-thirds of Bread buyers also buy Milk. Lift is 1.60.</a:t>
            </a:r>
            <a:br>
              <a:rPr lang="en-US" dirty="0"/>
            </a:br>
            <a:r>
              <a:rPr lang="en-US" dirty="0"/>
              <a:t>Rule 3: Milk → Bread. This has 57% confidence – over half of Milk buyers also buy Bread. Lift is 1.60.</a:t>
            </a:r>
            <a:br>
              <a:rPr lang="en-US" dirty="0"/>
            </a:br>
            <a:r>
              <a:rPr lang="en-US" dirty="0"/>
              <a:t>Lift above 1 shows a strong positive association.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2139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56B2-6533-ECA5-068D-EB6ADF47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7641C-AF3E-920D-2726-37589987A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 recommendation: </a:t>
            </a:r>
          </a:p>
          <a:p>
            <a:pPr marL="0" indent="0">
              <a:buNone/>
            </a:pPr>
            <a:r>
              <a:rPr lang="en-US" dirty="0"/>
              <a:t>       Place Butter and Bread together in the store and create combo deals to increase sales of both.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Second recommendation: </a:t>
            </a:r>
          </a:p>
          <a:p>
            <a:pPr marL="0" indent="0">
              <a:buNone/>
            </a:pPr>
            <a:r>
              <a:rPr lang="en-US" dirty="0"/>
              <a:t>     Send targeted promotions, like a Bread discount to customers who buy Milk, to encourage more cross-purchases.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These simple strategies can increase average transaction value and improve customer satisfaction.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800294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340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KALULE PETER</vt:lpstr>
      <vt:lpstr>DATAPREPARATION</vt:lpstr>
      <vt:lpstr>FREQUENT ITEMS FOUND</vt:lpstr>
      <vt:lpstr>SHOPPING RULES GENERATED</vt:lpstr>
      <vt:lpstr>TOP 3 STRONGEST RULES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Emperor</dc:creator>
  <cp:lastModifiedBy>Emperor</cp:lastModifiedBy>
  <cp:revision>1</cp:revision>
  <dcterms:created xsi:type="dcterms:W3CDTF">2025-12-11T11:03:27Z</dcterms:created>
  <dcterms:modified xsi:type="dcterms:W3CDTF">2025-12-11T11:14:18Z</dcterms:modified>
</cp:coreProperties>
</file>